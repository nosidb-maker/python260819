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08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834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726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860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16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095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748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03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22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74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5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933BD-AB3F-41ED-9C34-D2E51EA1E51C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5B26F-15A9-4BD6-BFEF-BE6638F751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135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6FA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13232" y="1097280"/>
            <a:ext cx="10698480" cy="73866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4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출생아 분석</a:t>
            </a:r>
            <a:endParaRPr lang="ko-KR" altLang="en-US" sz="4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1920240"/>
            <a:ext cx="10332720" cy="400110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000" smtClean="0">
                <a:solidFill>
                  <a:srgbClr val="EAE9DD"/>
                </a:solidFill>
                <a:latin typeface="맑은 고딕" panose="020B0503020000020004" pitchFamily="50" charset="-127"/>
              </a:rPr>
              <a:t>대한민국 인구구조 변화와 정책 대응 방향</a:t>
            </a:r>
            <a:endParaRPr lang="ko-KR" altLang="en-US" sz="2000">
              <a:solidFill>
                <a:srgbClr val="EAE9DD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49808" y="2514600"/>
            <a:ext cx="2011680" cy="54864"/>
          </a:xfrm>
          <a:prstGeom prst="rect">
            <a:avLst/>
          </a:prstGeom>
          <a:solidFill>
            <a:srgbClr val="006FA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49808" y="2788920"/>
            <a:ext cx="5943600" cy="292388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300" smtClean="0">
                <a:solidFill>
                  <a:srgbClr val="EAE9DD"/>
                </a:solidFill>
                <a:latin typeface="맑은 고딕" panose="020B0503020000020004" pitchFamily="50" charset="-127"/>
              </a:rPr>
              <a:t>1970~2023</a:t>
            </a:r>
            <a:r>
              <a:rPr lang="ko-KR" altLang="en-US" sz="1300" smtClean="0">
                <a:solidFill>
                  <a:srgbClr val="EAE9DD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300" smtClean="0">
                <a:solidFill>
                  <a:srgbClr val="EAE9DD"/>
                </a:solidFill>
                <a:latin typeface="맑은 고딕" panose="020B0503020000020004" pitchFamily="50" charset="-127"/>
              </a:rPr>
              <a:t>KOSIS </a:t>
            </a:r>
            <a:r>
              <a:rPr lang="ko-KR" altLang="en-US" sz="1300" smtClean="0">
                <a:solidFill>
                  <a:srgbClr val="EAE9DD"/>
                </a:solidFill>
                <a:latin typeface="맑은 고딕" panose="020B0503020000020004" pitchFamily="50" charset="-127"/>
              </a:rPr>
              <a:t>데이터 기반</a:t>
            </a:r>
            <a:endParaRPr lang="ko-KR" altLang="en-US" sz="1300">
              <a:solidFill>
                <a:srgbClr val="EAE9DD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5897880"/>
            <a:ext cx="5029200" cy="261610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100" smtClean="0">
                <a:solidFill>
                  <a:srgbClr val="C8C4AF"/>
                </a:solidFill>
                <a:latin typeface="맑은 고딕" panose="020B0503020000020004" pitchFamily="50" charset="-127"/>
              </a:rPr>
              <a:t>대통령 보고용 정책 브리핑</a:t>
            </a:r>
            <a:endParaRPr lang="ko-KR" altLang="en-US" sz="1100">
              <a:solidFill>
                <a:srgbClr val="C8C4A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87000" y="5897880"/>
            <a:ext cx="1188720" cy="261610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r"/>
            <a:r>
              <a:rPr lang="en-US" altLang="ko-KR" sz="1100" smtClean="0">
                <a:solidFill>
                  <a:srgbClr val="C8C4AF"/>
                </a:solidFill>
                <a:latin typeface="맑은 고딕" panose="020B0503020000020004" pitchFamily="50" charset="-127"/>
              </a:rPr>
              <a:t>2026. 08.</a:t>
            </a:r>
            <a:endParaRPr lang="ko-KR" altLang="en-US" sz="1100">
              <a:solidFill>
                <a:srgbClr val="C8C4AF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995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7705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핵심 요약</a:t>
            </a:r>
            <a:endParaRPr lang="ko-KR" altLang="en-US" sz="2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984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출생</a:t>
            </a:r>
            <a:r>
              <a:rPr lang="en-US" altLang="ko-KR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출산</a:t>
            </a:r>
            <a:r>
              <a:rPr lang="en-US" altLang="ko-KR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자연증가가 동시에 악화되는 구조적 전환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94360" y="1325880"/>
            <a:ext cx="2743200" cy="1097280"/>
          </a:xfrm>
          <a:prstGeom prst="roundRect">
            <a:avLst/>
          </a:prstGeom>
          <a:solidFill>
            <a:srgbClr val="F3F1EA"/>
          </a:solidFill>
          <a:ln>
            <a:solidFill>
              <a:srgbClr val="E7E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94360" y="1325880"/>
            <a:ext cx="73152" cy="1097280"/>
          </a:xfrm>
          <a:prstGeom prst="rect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58952" y="1444752"/>
            <a:ext cx="24688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2023</a:t>
            </a:r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년 출생아 수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" y="1682496"/>
            <a:ext cx="2468880" cy="44627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23.0</a:t>
            </a:r>
            <a:r>
              <a:rPr lang="ko-KR" altLang="en-US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만 명</a:t>
            </a:r>
            <a:endParaRPr lang="ko-KR" altLang="en-US" sz="23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2112264"/>
            <a:ext cx="246888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1971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년 정점 대비 </a:t>
            </a:r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-77.6%</a:t>
            </a:r>
            <a:endParaRPr lang="ko-KR" altLang="en-US" sz="9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547872" y="1325880"/>
            <a:ext cx="2743200" cy="1097280"/>
          </a:xfrm>
          <a:prstGeom prst="roundRect">
            <a:avLst/>
          </a:prstGeom>
          <a:solidFill>
            <a:srgbClr val="F3F1EA"/>
          </a:solidFill>
          <a:ln>
            <a:solidFill>
              <a:srgbClr val="E7E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547872" y="1325880"/>
            <a:ext cx="73152" cy="1097280"/>
          </a:xfrm>
          <a:prstGeom prst="rect">
            <a:avLst/>
          </a:prstGeom>
          <a:solidFill>
            <a:srgbClr val="006FA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712464" y="1444752"/>
            <a:ext cx="24688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2023</a:t>
            </a:r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년 합계출산율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12464" y="1682496"/>
            <a:ext cx="2468880" cy="44627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0.720</a:t>
            </a:r>
            <a:r>
              <a:rPr lang="ko-KR" altLang="en-US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명</a:t>
            </a:r>
            <a:endParaRPr lang="ko-KR" altLang="en-US" sz="23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2464" y="2112264"/>
            <a:ext cx="246888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1983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년 대체수준 </a:t>
            </a:r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2.1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명 하회 시작</a:t>
            </a:r>
            <a:endParaRPr lang="ko-KR" altLang="en-US" sz="9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6501384" y="1325880"/>
            <a:ext cx="2743201" cy="1097280"/>
          </a:xfrm>
          <a:prstGeom prst="roundRect">
            <a:avLst/>
          </a:prstGeom>
          <a:solidFill>
            <a:srgbClr val="F3F1EA"/>
          </a:solidFill>
          <a:ln>
            <a:solidFill>
              <a:srgbClr val="E7E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501384" y="1325880"/>
            <a:ext cx="73152" cy="1097280"/>
          </a:xfrm>
          <a:prstGeom prst="rect">
            <a:avLst/>
          </a:prstGeom>
          <a:solidFill>
            <a:srgbClr val="2A2F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665976" y="1444752"/>
            <a:ext cx="24688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자연증가건수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65976" y="1682496"/>
            <a:ext cx="2468880" cy="44627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-12.3</a:t>
            </a:r>
            <a:r>
              <a:rPr lang="ko-KR" altLang="en-US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만 명</a:t>
            </a:r>
            <a:endParaRPr lang="ko-KR" altLang="en-US" sz="23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65976" y="2112264"/>
            <a:ext cx="246888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2020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년부터 자연감소 전환</a:t>
            </a:r>
            <a:endParaRPr lang="ko-KR" altLang="en-US" sz="9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2788920"/>
            <a:ext cx="3657600" cy="323165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대통령께 드리는 </a:t>
            </a:r>
            <a:r>
              <a:rPr lang="en-US" altLang="ko-KR" sz="1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가지 판단</a:t>
            </a:r>
            <a:endParaRPr lang="ko-KR" altLang="en-US" sz="1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232" y="3182112"/>
            <a:ext cx="10241280" cy="1077218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출생 규모는 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50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 이상 누적 하락해 단기 반등만으로 되돌리기 어렵다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합계출산율 하락과 자연감소가 함께 진행되어 인구정책의 시간축이 길다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최근 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 출생아 수 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-47.3%,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합계출산율 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-39.3%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로 감소 속도가 빠르다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회복 정책과 인구감소 적응을 동시에 추진해야 한다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4734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713232" y="5074920"/>
            <a:ext cx="10561320" cy="658368"/>
          </a:xfrm>
          <a:prstGeom prst="roundRect">
            <a:avLst/>
          </a:prstGeom>
          <a:solidFill>
            <a:srgbClr val="D9F4FF"/>
          </a:solidFill>
          <a:ln>
            <a:solidFill>
              <a:srgbClr val="006F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914400" y="5193792"/>
            <a:ext cx="1005840" cy="276999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200" b="1" smtClean="0">
                <a:solidFill>
                  <a:srgbClr val="006FA9"/>
                </a:solidFill>
                <a:latin typeface="맑은 고딕" panose="020B0503020000020004" pitchFamily="50" charset="-127"/>
              </a:rPr>
              <a:t>보고 판단</a:t>
            </a:r>
            <a:endParaRPr lang="ko-KR" altLang="en-US" sz="1200" b="1">
              <a:solidFill>
                <a:srgbClr val="006FA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65960" y="5184648"/>
            <a:ext cx="8961120" cy="307777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4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결론</a:t>
            </a:r>
            <a:r>
              <a:rPr lang="en-US" altLang="ko-KR" sz="14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4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출산율 회복과 인구감소 적응을 한 정책 패키지로 관리해야 한다</a:t>
            </a:r>
            <a:r>
              <a:rPr lang="en-US" altLang="ko-KR" sz="14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7772400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자료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통계청 인구동향조사 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/ KOSIS, 1970~2023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92840" y="6492240"/>
            <a:ext cx="32004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5440"/>
                </a:solidFill>
                <a:latin typeface="맑은 고딕" panose="020B0503020000020004" pitchFamily="50" charset="-127"/>
              </a:rPr>
              <a:t>2</a:t>
            </a:r>
            <a:endParaRPr lang="ko-KR" altLang="en-US" sz="900" b="1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8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7705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장기 추세</a:t>
            </a:r>
            <a:r>
              <a:rPr lang="en-US" altLang="ko-KR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출생 규모의 구조적 축소</a:t>
            </a:r>
            <a:endParaRPr lang="ko-KR" altLang="en-US" sz="2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984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1970</a:t>
            </a:r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년대의 백만 명대 출생에서 </a:t>
            </a:r>
            <a:r>
              <a:rPr lang="en-US" altLang="ko-KR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2023</a:t>
            </a:r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만 명으로 하락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1234440"/>
            <a:ext cx="694944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417320"/>
            <a:ext cx="3200400" cy="323165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수치로 본 변화</a:t>
            </a:r>
            <a:endParaRPr lang="ko-KR" altLang="en-US" sz="1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55280" y="1874520"/>
            <a:ext cx="3383280" cy="76944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2200" b="1" smtClean="0">
                <a:solidFill>
                  <a:srgbClr val="736B00"/>
                </a:solidFill>
                <a:latin typeface="맑은 고딕" panose="020B0503020000020004" pitchFamily="50" charset="-127"/>
              </a:rPr>
              <a:t>1971</a:t>
            </a:r>
            <a:r>
              <a:rPr lang="ko-KR" altLang="en-US" sz="2200" b="1" smtClean="0">
                <a:solidFill>
                  <a:srgbClr val="736B00"/>
                </a:solidFill>
                <a:latin typeface="맑은 고딕" panose="020B0503020000020004" pitchFamily="50" charset="-127"/>
              </a:rPr>
              <a:t>년 정점</a:t>
            </a:r>
          </a:p>
          <a:p>
            <a:r>
              <a:rPr lang="en-US" altLang="ko-KR" sz="2200" b="1" smtClean="0">
                <a:solidFill>
                  <a:srgbClr val="736B00"/>
                </a:solidFill>
                <a:latin typeface="맑은 고딕" panose="020B0503020000020004" pitchFamily="50" charset="-127"/>
              </a:rPr>
              <a:t>1,024,773</a:t>
            </a:r>
            <a:r>
              <a:rPr lang="ko-KR" altLang="en-US" sz="2200" b="1" smtClean="0">
                <a:solidFill>
                  <a:srgbClr val="736B00"/>
                </a:solidFill>
                <a:latin typeface="맑은 고딕" panose="020B0503020000020004" pitchFamily="50" charset="-127"/>
              </a:rPr>
              <a:t>명</a:t>
            </a:r>
            <a:endParaRPr lang="ko-KR" altLang="en-US" sz="2200" b="1">
              <a:solidFill>
                <a:srgbClr val="736B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0" y="2788920"/>
            <a:ext cx="3383280" cy="76944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2200" b="1" smtClean="0">
                <a:solidFill>
                  <a:srgbClr val="2A2F9C"/>
                </a:solidFill>
                <a:latin typeface="맑은 고딕" panose="020B0503020000020004" pitchFamily="50" charset="-127"/>
              </a:rPr>
              <a:t>2023</a:t>
            </a:r>
            <a:r>
              <a:rPr lang="ko-KR" altLang="en-US" sz="2200" b="1" smtClean="0">
                <a:solidFill>
                  <a:srgbClr val="2A2F9C"/>
                </a:solidFill>
                <a:latin typeface="맑은 고딕" panose="020B0503020000020004" pitchFamily="50" charset="-127"/>
              </a:rPr>
              <a:t>년 최저</a:t>
            </a:r>
          </a:p>
          <a:p>
            <a:r>
              <a:rPr lang="en-US" altLang="ko-KR" sz="2200" b="1" smtClean="0">
                <a:solidFill>
                  <a:srgbClr val="2A2F9C"/>
                </a:solidFill>
                <a:latin typeface="맑은 고딕" panose="020B0503020000020004" pitchFamily="50" charset="-127"/>
              </a:rPr>
              <a:t>230,000</a:t>
            </a:r>
            <a:r>
              <a:rPr lang="ko-KR" altLang="en-US" sz="2200" b="1" smtClean="0">
                <a:solidFill>
                  <a:srgbClr val="2A2F9C"/>
                </a:solidFill>
                <a:latin typeface="맑은 고딕" panose="020B0503020000020004" pitchFamily="50" charset="-127"/>
              </a:rPr>
              <a:t>명</a:t>
            </a:r>
            <a:endParaRPr lang="ko-KR" altLang="en-US" sz="2200" b="1">
              <a:solidFill>
                <a:srgbClr val="2A2F9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0" y="3749040"/>
            <a:ext cx="3383280" cy="110799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200" b="1" smtClean="0">
                <a:solidFill>
                  <a:srgbClr val="006FA9"/>
                </a:solidFill>
                <a:latin typeface="맑은 고딕" panose="020B0503020000020004" pitchFamily="50" charset="-127"/>
              </a:rPr>
              <a:t>장기 연평균 변화율</a:t>
            </a:r>
            <a:r>
              <a:rPr lang="en-US" altLang="ko-KR" sz="2200" b="1" smtClean="0">
                <a:solidFill>
                  <a:srgbClr val="006FA9"/>
                </a:solidFill>
                <a:latin typeface="맑은 고딕" panose="020B0503020000020004" pitchFamily="50" charset="-127"/>
              </a:rPr>
              <a:t>(CAGR)</a:t>
            </a:r>
          </a:p>
          <a:p>
            <a:r>
              <a:rPr lang="en-US" altLang="ko-KR" sz="2200" b="1" smtClean="0">
                <a:solidFill>
                  <a:srgbClr val="006FA9"/>
                </a:solidFill>
                <a:latin typeface="맑은 고딕" panose="020B0503020000020004" pitchFamily="50" charset="-127"/>
              </a:rPr>
              <a:t>-2.75%</a:t>
            </a:r>
            <a:endParaRPr lang="ko-KR" altLang="en-US" sz="2200" b="1">
              <a:solidFill>
                <a:srgbClr val="006FA9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80" y="4800600"/>
            <a:ext cx="3337560" cy="492443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3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출생아 수 감소는 일시적 변동이 아니라 </a:t>
            </a:r>
            <a:r>
              <a:rPr lang="en-US" altLang="ko-KR" sz="1300" smtClean="0">
                <a:solidFill>
                  <a:srgbClr val="473424"/>
                </a:solidFill>
                <a:latin typeface="맑은 고딕" panose="020B0503020000020004" pitchFamily="50" charset="-127"/>
              </a:rPr>
              <a:t>50</a:t>
            </a:r>
            <a:r>
              <a:rPr lang="ko-KR" altLang="en-US" sz="13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 이상 누적된 추세다</a:t>
            </a:r>
            <a:r>
              <a:rPr lang="en-US" altLang="ko-KR" sz="13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4734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772400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자료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통계청 인구동향조사 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/ KOSIS, 1970~2023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92840" y="6492240"/>
            <a:ext cx="32004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5440"/>
                </a:solidFill>
                <a:latin typeface="맑은 고딕" panose="020B0503020000020004" pitchFamily="50" charset="-127"/>
              </a:rPr>
              <a:t>3</a:t>
            </a:r>
            <a:endParaRPr lang="ko-KR" altLang="en-US" sz="900" b="1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339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7705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시대별 비교</a:t>
            </a:r>
            <a:r>
              <a:rPr lang="en-US" altLang="ko-KR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저출산에서 자연감소로</a:t>
            </a:r>
            <a:endParaRPr lang="ko-KR" altLang="en-US" sz="2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984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평균값 기준으로 본 인구구조의 단계적 악화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336465"/>
              </p:ext>
            </p:extLst>
          </p:nvPr>
        </p:nvGraphicFramePr>
        <p:xfrm>
          <a:off x="594360" y="1325880"/>
          <a:ext cx="6812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070">
                  <a:extLst>
                    <a:ext uri="{9D8B030D-6E8A-4147-A177-3AD203B41FA5}">
                      <a16:colId xmlns:a16="http://schemas.microsoft.com/office/drawing/2014/main" val="1396758932"/>
                    </a:ext>
                  </a:extLst>
                </a:gridCol>
                <a:gridCol w="1703070">
                  <a:extLst>
                    <a:ext uri="{9D8B030D-6E8A-4147-A177-3AD203B41FA5}">
                      <a16:colId xmlns:a16="http://schemas.microsoft.com/office/drawing/2014/main" val="1419284525"/>
                    </a:ext>
                  </a:extLst>
                </a:gridCol>
                <a:gridCol w="1703070">
                  <a:extLst>
                    <a:ext uri="{9D8B030D-6E8A-4147-A177-3AD203B41FA5}">
                      <a16:colId xmlns:a16="http://schemas.microsoft.com/office/drawing/2014/main" val="2378297040"/>
                    </a:ext>
                  </a:extLst>
                </a:gridCol>
                <a:gridCol w="1703070">
                  <a:extLst>
                    <a:ext uri="{9D8B030D-6E8A-4147-A177-3AD203B41FA5}">
                      <a16:colId xmlns:a16="http://schemas.microsoft.com/office/drawing/2014/main" val="3666172568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smtClean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시대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4D2B1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smtClean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평균 출생아 수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4D2B1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smtClean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평균 합계출산율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4D2B1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smtClean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평균 자연증가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4D2B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4089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1970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년대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89.8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3.6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64.8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799429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1980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년대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72.1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1.9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47.6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72696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1990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년대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68.7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1.6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44.5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907516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2000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년대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49.7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1.2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25.0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6192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2010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년대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41.3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1.2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13.8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3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633587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2020~2023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년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7E9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25.3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7E9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0.8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7E9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-8.4</a:t>
                      </a:r>
                      <a:r>
                        <a:rPr lang="ko-KR" altLang="en-US" sz="1200" smtClean="0">
                          <a:solidFill>
                            <a:srgbClr val="473424"/>
                          </a:solidFill>
                          <a:latin typeface="맑은 고딕" panose="020B0503020000020004" pitchFamily="50" charset="-127"/>
                        </a:rPr>
                        <a:t>만 명</a:t>
                      </a:r>
                      <a:endParaRPr lang="ko-KR" altLang="en-US" sz="1200">
                        <a:solidFill>
                          <a:srgbClr val="47342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E7E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64385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9560" y="1463040"/>
            <a:ext cx="1828800" cy="323165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해석</a:t>
            </a:r>
            <a:endParaRPr lang="ko-KR" altLang="en-US" sz="1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09560" y="1965960"/>
            <a:ext cx="3474720" cy="181588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1980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년대부터 이미 대체수준 아래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2000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년대 이후 출생 규모가 빠르게 축소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2020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년대 평균 자연증가건수는 음수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출산율 하락이 출생아 수와 자연증가 감소로 연결</a:t>
            </a:r>
            <a:endParaRPr lang="ko-KR" altLang="en-US" sz="1600">
              <a:solidFill>
                <a:srgbClr val="4734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7909560" y="4709160"/>
            <a:ext cx="3337560" cy="777240"/>
          </a:xfrm>
          <a:prstGeom prst="roundRect">
            <a:avLst/>
          </a:prstGeom>
          <a:solidFill>
            <a:srgbClr val="F4F3E5"/>
          </a:solidFill>
          <a:ln>
            <a:solidFill>
              <a:srgbClr val="736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092440" y="4919472"/>
            <a:ext cx="2926080" cy="307777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400" b="1" smtClean="0">
                <a:solidFill>
                  <a:srgbClr val="736B00"/>
                </a:solidFill>
                <a:latin typeface="맑은 고딕" panose="020B0503020000020004" pitchFamily="50" charset="-127"/>
              </a:rPr>
              <a:t>전환점</a:t>
            </a:r>
            <a:r>
              <a:rPr lang="en-US" altLang="ko-KR" sz="1400" b="1" smtClean="0">
                <a:solidFill>
                  <a:srgbClr val="736B00"/>
                </a:solidFill>
                <a:latin typeface="맑은 고딕" panose="020B0503020000020004" pitchFamily="50" charset="-127"/>
              </a:rPr>
              <a:t>: 2020</a:t>
            </a:r>
            <a:r>
              <a:rPr lang="ko-KR" altLang="en-US" sz="1400" b="1" smtClean="0">
                <a:solidFill>
                  <a:srgbClr val="736B00"/>
                </a:solidFill>
                <a:latin typeface="맑은 고딕" panose="020B0503020000020004" pitchFamily="50" charset="-127"/>
              </a:rPr>
              <a:t>년 자연감소 진입</a:t>
            </a:r>
            <a:endParaRPr lang="ko-KR" altLang="en-US" sz="1400" b="1">
              <a:solidFill>
                <a:srgbClr val="736B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7772400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자료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통계청 인구동향조사 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/ KOSIS, 1970~2023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492240"/>
            <a:ext cx="32004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5440"/>
                </a:solidFill>
                <a:latin typeface="맑은 고딕" panose="020B0503020000020004" pitchFamily="50" charset="-127"/>
              </a:rPr>
              <a:t>4</a:t>
            </a:r>
            <a:endParaRPr lang="ko-KR" altLang="en-US" sz="900" b="1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826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7705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출산율과 자연증가</a:t>
            </a:r>
            <a:r>
              <a:rPr lang="en-US" altLang="ko-KR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인구감소가 이미 시작됨</a:t>
            </a:r>
            <a:endParaRPr lang="ko-KR" altLang="en-US" sz="2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984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출생아 수만의 문제가 아니라 인구 재생산 구조의 문제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640080" y="1325880"/>
            <a:ext cx="2971800" cy="1097280"/>
          </a:xfrm>
          <a:prstGeom prst="roundRect">
            <a:avLst/>
          </a:prstGeom>
          <a:solidFill>
            <a:srgbClr val="F3F1EA"/>
          </a:solidFill>
          <a:ln>
            <a:solidFill>
              <a:srgbClr val="E7E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40080" y="1325880"/>
            <a:ext cx="73152" cy="1097280"/>
          </a:xfrm>
          <a:prstGeom prst="rect">
            <a:avLst/>
          </a:prstGeom>
          <a:solidFill>
            <a:srgbClr val="006FA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04672" y="1444752"/>
            <a:ext cx="26974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대체수준 하회 시작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" y="1682496"/>
            <a:ext cx="2697480" cy="44627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1983</a:t>
            </a:r>
            <a:r>
              <a:rPr lang="ko-KR" altLang="en-US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년</a:t>
            </a:r>
            <a:endParaRPr lang="ko-KR" altLang="en-US" sz="23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2112264"/>
            <a:ext cx="269748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합계출산율 </a:t>
            </a:r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2.1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명 미만</a:t>
            </a:r>
            <a:endParaRPr lang="ko-KR" altLang="en-US" sz="9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886200" y="1325880"/>
            <a:ext cx="2971800" cy="1097280"/>
          </a:xfrm>
          <a:prstGeom prst="roundRect">
            <a:avLst/>
          </a:prstGeom>
          <a:solidFill>
            <a:srgbClr val="F3F1EA"/>
          </a:solidFill>
          <a:ln>
            <a:solidFill>
              <a:srgbClr val="E7E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886200" y="1325880"/>
            <a:ext cx="73152" cy="1097280"/>
          </a:xfrm>
          <a:prstGeom prst="rect">
            <a:avLst/>
          </a:prstGeom>
          <a:solidFill>
            <a:srgbClr val="2A2F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050792" y="1444752"/>
            <a:ext cx="26974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자연감소 전환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50792" y="1682496"/>
            <a:ext cx="2697480" cy="44627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2020</a:t>
            </a:r>
            <a:r>
              <a:rPr lang="ko-KR" altLang="en-US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년</a:t>
            </a:r>
            <a:endParaRPr lang="ko-KR" altLang="en-US" sz="23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50792" y="2112264"/>
            <a:ext cx="269748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자연증가건수 </a:t>
            </a:r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0 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미만</a:t>
            </a:r>
            <a:endParaRPr lang="ko-KR" altLang="en-US" sz="9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7132320" y="1325880"/>
            <a:ext cx="2971800" cy="1097280"/>
          </a:xfrm>
          <a:prstGeom prst="roundRect">
            <a:avLst/>
          </a:prstGeom>
          <a:solidFill>
            <a:srgbClr val="F3F1EA"/>
          </a:solidFill>
          <a:ln>
            <a:solidFill>
              <a:srgbClr val="E7E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7132320" y="1325880"/>
            <a:ext cx="73153" cy="1097280"/>
          </a:xfrm>
          <a:prstGeom prst="rect">
            <a:avLst/>
          </a:prstGeom>
          <a:solidFill>
            <a:srgbClr val="2A2F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7296912" y="1444752"/>
            <a:ext cx="26974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최저 자연증가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6912" y="1682496"/>
            <a:ext cx="2697480" cy="44627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-12.4</a:t>
            </a:r>
            <a:r>
              <a:rPr lang="ko-KR" altLang="en-US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만 명</a:t>
            </a:r>
            <a:endParaRPr lang="ko-KR" altLang="en-US" sz="23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96912" y="2112264"/>
            <a:ext cx="269748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2022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년 기록</a:t>
            </a:r>
            <a:endParaRPr lang="ko-KR" altLang="en-US" sz="9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2880360"/>
            <a:ext cx="5303520" cy="323165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출생아 수와 주요 지표의 동행 관계</a:t>
            </a:r>
            <a:endParaRPr lang="ko-KR" altLang="en-US" sz="1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303520" cy="96949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9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출생아 수 ↔ 합계출산율       </a:t>
            </a:r>
            <a:r>
              <a:rPr lang="en-US" altLang="ko-KR" sz="1900" smtClean="0">
                <a:solidFill>
                  <a:srgbClr val="473424"/>
                </a:solidFill>
                <a:latin typeface="맑은 고딕" panose="020B0503020000020004" pitchFamily="50" charset="-127"/>
              </a:rPr>
              <a:t>r = 0.895</a:t>
            </a:r>
          </a:p>
          <a:p>
            <a:r>
              <a:rPr lang="ko-KR" altLang="en-US" sz="19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출생아 수 ↔ 자연증가건수       </a:t>
            </a:r>
            <a:r>
              <a:rPr lang="en-US" altLang="ko-KR" sz="1900" smtClean="0">
                <a:solidFill>
                  <a:srgbClr val="473424"/>
                </a:solidFill>
                <a:latin typeface="맑은 고딕" panose="020B0503020000020004" pitchFamily="50" charset="-127"/>
              </a:rPr>
              <a:t>r = 0.995</a:t>
            </a:r>
          </a:p>
          <a:p>
            <a:r>
              <a:rPr lang="ko-KR" altLang="en-US" sz="19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출생아 수 ↔ 조출생률           </a:t>
            </a:r>
            <a:r>
              <a:rPr lang="en-US" altLang="ko-KR" sz="1900" smtClean="0">
                <a:solidFill>
                  <a:srgbClr val="473424"/>
                </a:solidFill>
                <a:latin typeface="맑은 고딕" panose="020B0503020000020004" pitchFamily="50" charset="-127"/>
              </a:rPr>
              <a:t>r = 0.979</a:t>
            </a:r>
            <a:endParaRPr lang="ko-KR" altLang="en-US" sz="1900">
              <a:solidFill>
                <a:srgbClr val="4734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5760720" cy="430887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1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상관계수는 같은 방향으로 움직이는 정도를 나타내며</a:t>
            </a:r>
            <a:r>
              <a:rPr lang="en-US" altLang="ko-KR" sz="1100" smtClean="0">
                <a:solidFill>
                  <a:srgbClr val="66544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정책 효과의 인과관계를 뜻하지 않는다</a:t>
            </a:r>
            <a:r>
              <a:rPr lang="en-US" altLang="ko-KR" sz="1100" smtClean="0">
                <a:solidFill>
                  <a:srgbClr val="665440"/>
                </a:solidFill>
                <a:latin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69480" y="2880360"/>
            <a:ext cx="2468880" cy="323165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정책적 의미</a:t>
            </a:r>
            <a:endParaRPr lang="ko-KR" altLang="en-US" sz="1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0" y="3383280"/>
            <a:ext cx="3977640" cy="1569660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출산율 회복 없이는 출생 규모 반등이 어렵다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자연감소는 출생아 수 정책과 별도로 적응 전략이 필요하다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정책 평가는 출생 건수뿐 아니라 지속성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양육부담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지역 격차를 함께 봐야 한다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4734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7772400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자료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통계청 인구동향조사 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/ KOSIS, 1970~2023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92840" y="6492240"/>
            <a:ext cx="32004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5440"/>
                </a:solidFill>
                <a:latin typeface="맑은 고딕" panose="020B0503020000020004" pitchFamily="50" charset="-127"/>
              </a:rPr>
              <a:t>5</a:t>
            </a:r>
            <a:endParaRPr lang="ko-KR" altLang="en-US" sz="900" b="1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4452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7705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최근 </a:t>
            </a:r>
            <a:r>
              <a:rPr lang="en-US" altLang="ko-KR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년</a:t>
            </a:r>
            <a:r>
              <a:rPr lang="en-US" altLang="ko-KR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감소 속도가 더 빨라짐</a:t>
            </a:r>
            <a:endParaRPr lang="ko-KR" altLang="en-US" sz="2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984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2014</a:t>
            </a:r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년부터 </a:t>
            </a:r>
            <a:r>
              <a:rPr lang="en-US" altLang="ko-KR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2023</a:t>
            </a:r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년까지의 최신 구간을 별도로 점검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31520" y="2110827"/>
            <a:ext cx="438912" cy="2964093"/>
          </a:xfrm>
          <a:prstGeom prst="rect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21792" y="5193792"/>
            <a:ext cx="658368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2014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444752" y="2090507"/>
            <a:ext cx="438912" cy="2984413"/>
          </a:xfrm>
          <a:prstGeom prst="rect">
            <a:avLst/>
          </a:prstGeom>
          <a:solidFill>
            <a:srgbClr val="C9C4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335024" y="5193792"/>
            <a:ext cx="658368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2015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57984" y="2309543"/>
            <a:ext cx="438912" cy="2765377"/>
          </a:xfrm>
          <a:prstGeom prst="rect">
            <a:avLst/>
          </a:prstGeom>
          <a:solidFill>
            <a:srgbClr val="C9C4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048256" y="5193792"/>
            <a:ext cx="658368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2016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871216" y="2639501"/>
            <a:ext cx="438912" cy="2435419"/>
          </a:xfrm>
          <a:prstGeom prst="rect">
            <a:avLst/>
          </a:prstGeom>
          <a:solidFill>
            <a:srgbClr val="C9C4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761488" y="5193792"/>
            <a:ext cx="658368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2017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584448" y="2850177"/>
            <a:ext cx="438912" cy="2224743"/>
          </a:xfrm>
          <a:prstGeom prst="rect">
            <a:avLst/>
          </a:prstGeom>
          <a:solidFill>
            <a:srgbClr val="C9C4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474720" y="5193792"/>
            <a:ext cx="658368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2018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297680" y="3014544"/>
            <a:ext cx="438912" cy="2060376"/>
          </a:xfrm>
          <a:prstGeom prst="rect">
            <a:avLst/>
          </a:prstGeom>
          <a:solidFill>
            <a:srgbClr val="C9C4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187952" y="5193792"/>
            <a:ext cx="658368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2019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010912" y="3221068"/>
            <a:ext cx="438912" cy="1853852"/>
          </a:xfrm>
          <a:prstGeom prst="rect">
            <a:avLst/>
          </a:prstGeom>
          <a:solidFill>
            <a:srgbClr val="C9C4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4901184" y="5193792"/>
            <a:ext cx="658368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2020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724144" y="3301223"/>
            <a:ext cx="438912" cy="1773697"/>
          </a:xfrm>
          <a:prstGeom prst="rect">
            <a:avLst/>
          </a:prstGeom>
          <a:solidFill>
            <a:srgbClr val="C9C4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614416" y="5193792"/>
            <a:ext cx="658368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2021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437376" y="3378661"/>
            <a:ext cx="438912" cy="1696259"/>
          </a:xfrm>
          <a:prstGeom prst="rect">
            <a:avLst/>
          </a:prstGeom>
          <a:solidFill>
            <a:srgbClr val="C9C4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327648" y="5193792"/>
            <a:ext cx="658368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2022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150608" y="3509264"/>
            <a:ext cx="438912" cy="1565656"/>
          </a:xfrm>
          <a:prstGeom prst="rect">
            <a:avLst/>
          </a:prstGeom>
          <a:solidFill>
            <a:srgbClr val="2A2F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040880" y="5193792"/>
            <a:ext cx="658368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2023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1325880"/>
            <a:ext cx="914400" cy="307777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400" b="1" smtClean="0">
                <a:solidFill>
                  <a:srgbClr val="736B00"/>
                </a:solidFill>
                <a:latin typeface="맑은 고딕" panose="020B0503020000020004" pitchFamily="50" charset="-127"/>
              </a:rPr>
              <a:t>2014</a:t>
            </a:r>
            <a:endParaRPr lang="ko-KR" altLang="en-US" sz="1400" b="1">
              <a:solidFill>
                <a:srgbClr val="736B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08760" y="1307592"/>
            <a:ext cx="1463040" cy="3847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9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43.5</a:t>
            </a:r>
            <a:r>
              <a:rPr lang="ko-KR" altLang="en-US" sz="19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만 명</a:t>
            </a:r>
            <a:endParaRPr lang="ko-KR" altLang="en-US" sz="19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08960" y="1298448"/>
            <a:ext cx="457200" cy="400110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ko-KR" altLang="en-US" sz="2000" b="1" smtClean="0">
                <a:solidFill>
                  <a:srgbClr val="665440"/>
                </a:solidFill>
                <a:latin typeface="맑은 고딕" panose="020B0503020000020004" pitchFamily="50" charset="-127"/>
              </a:rPr>
              <a:t>→</a:t>
            </a:r>
            <a:endParaRPr lang="ko-KR" altLang="en-US" sz="2000" b="1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94760" y="1325880"/>
            <a:ext cx="914400" cy="307777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400" b="1" smtClean="0">
                <a:solidFill>
                  <a:srgbClr val="2A2F9C"/>
                </a:solidFill>
                <a:latin typeface="맑은 고딕" panose="020B0503020000020004" pitchFamily="50" charset="-127"/>
              </a:rPr>
              <a:t>2023</a:t>
            </a:r>
            <a:endParaRPr lang="ko-KR" altLang="en-US" sz="1400" b="1">
              <a:solidFill>
                <a:srgbClr val="2A2F9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0" y="1307592"/>
            <a:ext cx="1463040" cy="3847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9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23.0</a:t>
            </a:r>
            <a:r>
              <a:rPr lang="ko-KR" altLang="en-US" sz="19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만 명</a:t>
            </a:r>
            <a:endParaRPr lang="ko-KR" altLang="en-US" sz="19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200" y="1353312"/>
            <a:ext cx="3657600" cy="430887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200" b="1" smtClean="0">
                <a:solidFill>
                  <a:srgbClr val="2A2F9C"/>
                </a:solidFill>
                <a:latin typeface="맑은 고딕" panose="020B0503020000020004" pitchFamily="50" charset="-127"/>
              </a:rPr>
              <a:t>최근 </a:t>
            </a:r>
            <a:r>
              <a:rPr lang="en-US" altLang="ko-KR" sz="2200" b="1" smtClean="0">
                <a:solidFill>
                  <a:srgbClr val="2A2F9C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2200" b="1" smtClean="0">
                <a:solidFill>
                  <a:srgbClr val="2A2F9C"/>
                </a:solidFill>
                <a:latin typeface="맑은 고딕" panose="020B0503020000020004" pitchFamily="50" charset="-127"/>
              </a:rPr>
              <a:t>년 변화율</a:t>
            </a:r>
            <a:r>
              <a:rPr lang="en-US" altLang="ko-KR" sz="2200" b="1" smtClean="0">
                <a:solidFill>
                  <a:srgbClr val="2A2F9C"/>
                </a:solidFill>
                <a:latin typeface="맑은 고딕" panose="020B0503020000020004" pitchFamily="50" charset="-127"/>
              </a:rPr>
              <a:t>: -47.3%</a:t>
            </a:r>
            <a:endParaRPr lang="ko-KR" altLang="en-US" sz="2200" b="1">
              <a:solidFill>
                <a:srgbClr val="2A2F9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0" y="2011680"/>
            <a:ext cx="3794760" cy="1077218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2015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년의 소폭 반등 이후 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2023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년까지 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8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 연속 감소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단기 경기 변동보다 구조적 요인의 영향이 큰 구간으로 해석된다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4734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365760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막대는 출생아 수</a:t>
            </a:r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명</a:t>
            </a:r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), 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축약 표기는 만 명 단위</a:t>
            </a:r>
            <a:endParaRPr lang="ko-KR" altLang="en-US" sz="9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7772400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자료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통계청 인구동향조사 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/ KOSIS, 1970~2023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292840" y="6492240"/>
            <a:ext cx="32004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5440"/>
                </a:solidFill>
                <a:latin typeface="맑은 고딕" panose="020B0503020000020004" pitchFamily="50" charset="-127"/>
              </a:rPr>
              <a:t>6</a:t>
            </a:r>
            <a:endParaRPr lang="ko-KR" altLang="en-US" sz="900" b="1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0927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7705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정책 시사점 및 보고 제안</a:t>
            </a:r>
            <a:endParaRPr lang="ko-KR" altLang="en-US" sz="2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984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데이터가 말하는 우선순위</a:t>
            </a:r>
            <a:r>
              <a:rPr lang="en-US" altLang="ko-KR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회복과 적응을 동시에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438912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01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4572000" cy="353943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7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출산</a:t>
            </a:r>
            <a:r>
              <a:rPr lang="en-US" altLang="ko-KR" sz="17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7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양육 비용의 실질 부담 완화</a:t>
            </a:r>
            <a:endParaRPr lang="ko-KR" altLang="en-US" sz="17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20" y="1627632"/>
            <a:ext cx="9509760" cy="276999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주거</a:t>
            </a:r>
            <a:r>
              <a:rPr lang="en-US" altLang="ko-KR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돌봄</a:t>
            </a:r>
            <a:r>
              <a:rPr lang="en-US" altLang="ko-KR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교육비를 생애주기 관점에서 묶어 체감 가능한 지원으로 설계</a:t>
            </a:r>
            <a:endParaRPr lang="ko-KR" altLang="en-US" sz="12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685800" y="2450592"/>
            <a:ext cx="502920" cy="502920"/>
          </a:xfrm>
          <a:prstGeom prst="ellipse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13232" y="2560320"/>
            <a:ext cx="438912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02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2359152"/>
            <a:ext cx="4572000" cy="353943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7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청년의 가족 형성 기반 강화</a:t>
            </a:r>
            <a:endParaRPr lang="ko-KR" altLang="en-US" sz="17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320" y="2706624"/>
            <a:ext cx="9509760" cy="276999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고용 안정</a:t>
            </a:r>
            <a:r>
              <a:rPr lang="en-US" altLang="ko-KR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주거 접근성</a:t>
            </a:r>
            <a:r>
              <a:rPr lang="en-US" altLang="ko-KR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일</a:t>
            </a:r>
            <a:r>
              <a:rPr lang="en-US" altLang="ko-KR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생활 양립을 출산 결정 이전부터 점검</a:t>
            </a:r>
            <a:endParaRPr lang="ko-KR" altLang="en-US" sz="12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85800" y="3529584"/>
            <a:ext cx="502920" cy="502920"/>
          </a:xfrm>
          <a:prstGeom prst="ellipse">
            <a:avLst/>
          </a:prstGeom>
          <a:solidFill>
            <a:srgbClr val="006FA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13232" y="3639312"/>
            <a:ext cx="438912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03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7320" y="3438144"/>
            <a:ext cx="4572000" cy="353943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7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지역별 맞춤 전략</a:t>
            </a:r>
            <a:endParaRPr lang="ko-KR" altLang="en-US" sz="17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20" y="3785616"/>
            <a:ext cx="9509760" cy="276999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전국 평균만 보지 말고 지역별 출생</a:t>
            </a:r>
            <a:r>
              <a:rPr lang="en-US" altLang="ko-KR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이동</a:t>
            </a:r>
            <a:r>
              <a:rPr lang="en-US" altLang="ko-KR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돌봄 인프라를 연계해 설계</a:t>
            </a:r>
            <a:endParaRPr lang="ko-KR" altLang="en-US" sz="12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85800" y="4608576"/>
            <a:ext cx="502920" cy="502920"/>
          </a:xfrm>
          <a:prstGeom prst="ellipse">
            <a:avLst/>
          </a:prstGeom>
          <a:solidFill>
            <a:srgbClr val="006FA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13232" y="4718304"/>
            <a:ext cx="438912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en-US" altLang="ko-KR" sz="9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04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7320" y="4517136"/>
            <a:ext cx="4572000" cy="353943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7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자연감소 적응 병행</a:t>
            </a:r>
            <a:endParaRPr lang="ko-KR" altLang="en-US" sz="17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17320" y="4864608"/>
            <a:ext cx="9509760" cy="276999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인구감소를 전제로 교육</a:t>
            </a:r>
            <a:r>
              <a:rPr lang="en-US" altLang="ko-KR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의료</a:t>
            </a:r>
            <a:r>
              <a:rPr lang="en-US" altLang="ko-KR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연금</a:t>
            </a:r>
            <a:r>
              <a:rPr lang="en-US" altLang="ko-KR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지역 서비스의 규모와 전달체계를 재설계</a:t>
            </a:r>
            <a:endParaRPr lang="ko-KR" altLang="en-US" sz="12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685800" y="5623560"/>
            <a:ext cx="10561320" cy="438912"/>
          </a:xfrm>
          <a:prstGeom prst="roundRect">
            <a:avLst/>
          </a:prstGeom>
          <a:solidFill>
            <a:srgbClr val="4D2B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914400" y="5733288"/>
            <a:ext cx="10104120" cy="292388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ctr"/>
            <a:r>
              <a:rPr lang="ko-KR" altLang="en-US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결론</a:t>
            </a:r>
            <a:r>
              <a:rPr lang="en-US" altLang="ko-KR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출산율 반등의 시간축은 길다</a:t>
            </a:r>
            <a:r>
              <a:rPr lang="en-US" altLang="ko-KR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지금은 회복 정책과 인구감소 대응을 함께 집행할 시점이다</a:t>
            </a:r>
            <a:r>
              <a:rPr lang="en-US" altLang="ko-KR" sz="13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7772400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자료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통계청 인구동향조사 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/ KOSIS, 1970~2023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92840" y="6492240"/>
            <a:ext cx="32004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5440"/>
                </a:solidFill>
                <a:latin typeface="맑은 고딕" panose="020B0503020000020004" pitchFamily="50" charset="-127"/>
              </a:rPr>
              <a:t>7</a:t>
            </a:r>
            <a:endParaRPr lang="ko-KR" altLang="en-US" sz="900" b="1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587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7705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정책 성과관리</a:t>
            </a:r>
            <a:r>
              <a:rPr lang="en-US" altLang="ko-KR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숫자 하나가 아닌 세 축으로 점검</a:t>
            </a:r>
            <a:endParaRPr lang="ko-KR" altLang="en-US" sz="2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9848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출생아 수의 단기 변동보다 지속 가능한 가족 형성 환경을 측정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640080" y="1325880"/>
            <a:ext cx="3017520" cy="1097280"/>
          </a:xfrm>
          <a:prstGeom prst="roundRect">
            <a:avLst/>
          </a:prstGeom>
          <a:solidFill>
            <a:srgbClr val="F3F1EA"/>
          </a:solidFill>
          <a:ln>
            <a:solidFill>
              <a:srgbClr val="E7E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40080" y="1325880"/>
            <a:ext cx="73152" cy="1097280"/>
          </a:xfrm>
          <a:prstGeom prst="rect">
            <a:avLst/>
          </a:prstGeom>
          <a:solidFill>
            <a:srgbClr val="736B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04672" y="1444752"/>
            <a:ext cx="274320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회복 지표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" y="1682496"/>
            <a:ext cx="2743200" cy="44627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합계출산율</a:t>
            </a:r>
            <a:endParaRPr lang="ko-KR" altLang="en-US" sz="23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2112264"/>
            <a:ext cx="274320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연도별 수준과 반등의 지속성</a:t>
            </a:r>
            <a:endParaRPr lang="ko-KR" altLang="en-US" sz="9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886200" y="1325880"/>
            <a:ext cx="3017520" cy="1097280"/>
          </a:xfrm>
          <a:prstGeom prst="roundRect">
            <a:avLst/>
          </a:prstGeom>
          <a:solidFill>
            <a:srgbClr val="F3F1EA"/>
          </a:solidFill>
          <a:ln>
            <a:solidFill>
              <a:srgbClr val="E7E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886200" y="1325880"/>
            <a:ext cx="73152" cy="1097280"/>
          </a:xfrm>
          <a:prstGeom prst="rect">
            <a:avLst/>
          </a:prstGeom>
          <a:solidFill>
            <a:srgbClr val="006FA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050792" y="1444752"/>
            <a:ext cx="274320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부담 지표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50792" y="1682496"/>
            <a:ext cx="2743200" cy="44627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주거</a:t>
            </a:r>
            <a:r>
              <a:rPr lang="en-US" altLang="ko-KR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돌봄 부담</a:t>
            </a:r>
            <a:endParaRPr lang="ko-KR" altLang="en-US" sz="23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50792" y="2112264"/>
            <a:ext cx="274320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청년</a:t>
            </a:r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신혼</a:t>
            </a:r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양육가구 체감도</a:t>
            </a:r>
            <a:endParaRPr lang="ko-KR" altLang="en-US" sz="9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7132320" y="1325880"/>
            <a:ext cx="3017520" cy="1097280"/>
          </a:xfrm>
          <a:prstGeom prst="roundRect">
            <a:avLst/>
          </a:prstGeom>
          <a:solidFill>
            <a:srgbClr val="F3F1EA"/>
          </a:solidFill>
          <a:ln>
            <a:solidFill>
              <a:srgbClr val="E7E4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7132320" y="1325880"/>
            <a:ext cx="73153" cy="1097280"/>
          </a:xfrm>
          <a:prstGeom prst="rect">
            <a:avLst/>
          </a:prstGeom>
          <a:solidFill>
            <a:srgbClr val="2A2F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7296912" y="1444752"/>
            <a:ext cx="2743200" cy="246221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0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적응 지표</a:t>
            </a:r>
            <a:endParaRPr lang="ko-KR" altLang="en-US" sz="10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6912" y="1682496"/>
            <a:ext cx="2743200" cy="446276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23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지역 인구감소</a:t>
            </a:r>
            <a:endParaRPr lang="ko-KR" altLang="en-US" sz="23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96912" y="2112264"/>
            <a:ext cx="274320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교육</a:t>
            </a:r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의료</a:t>
            </a:r>
            <a:r>
              <a:rPr lang="en-US" altLang="ko-KR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 smtClean="0">
                <a:solidFill>
                  <a:srgbClr val="665440"/>
                </a:solidFill>
                <a:latin typeface="맑은 고딕" panose="020B0503020000020004" pitchFamily="50" charset="-127"/>
              </a:rPr>
              <a:t>돌봄 서비스 접근성</a:t>
            </a:r>
            <a:endParaRPr lang="ko-KR" altLang="en-US" sz="9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2880360"/>
            <a:ext cx="4389120" cy="323165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500" b="1" smtClean="0">
                <a:solidFill>
                  <a:srgbClr val="4D2B17"/>
                </a:solidFill>
                <a:latin typeface="맑은 고딕" panose="020B0503020000020004" pitchFamily="50" charset="-127"/>
              </a:rPr>
              <a:t>보고 시 함께 명시할 유의사항</a:t>
            </a:r>
            <a:endParaRPr lang="ko-KR" altLang="en-US" sz="1500" b="1">
              <a:solidFill>
                <a:srgbClr val="4D2B17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3310128"/>
            <a:ext cx="10332720" cy="1077218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본 보고서는 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KOSIS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통계표의 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1970~2023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 관측자료를 분석한 결과다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2023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년 값은 원자료의 잠정 표기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(p)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를 유지해 연도만 정규화했다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상관계수는 동행 정도이며 특정 정책의 인과효과를 추정한 결과가 아니다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정책 효과 평가는 출생아 수뿐 아니라 결혼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출산 의향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실제 부담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지역 격차를 함께 추적해야 한다</a:t>
            </a:r>
            <a:r>
              <a:rPr lang="en-US" altLang="ko-KR" sz="1600" smtClean="0">
                <a:solidFill>
                  <a:srgbClr val="473424"/>
                </a:solidFill>
                <a:latin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47342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713232" y="5166360"/>
            <a:ext cx="10561320" cy="685800"/>
          </a:xfrm>
          <a:prstGeom prst="roundRect">
            <a:avLst/>
          </a:prstGeom>
          <a:solidFill>
            <a:srgbClr val="4D2B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914400" y="5340096"/>
            <a:ext cx="1645920" cy="276999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2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대통령 지시 제안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14600" y="5321808"/>
            <a:ext cx="8321040" cy="523220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14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관계부처는 회복</a:t>
            </a:r>
            <a:r>
              <a:rPr lang="en-US" altLang="ko-KR" sz="14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부담</a:t>
            </a:r>
            <a:r>
              <a:rPr lang="en-US" altLang="ko-KR" sz="14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적응 </a:t>
            </a:r>
            <a:r>
              <a:rPr lang="en-US" altLang="ko-KR" sz="14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4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개 축의 연차 목표와 예산 연계를 제시하고</a:t>
            </a:r>
            <a:r>
              <a:rPr lang="en-US" altLang="ko-KR" sz="14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4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매년 동일 지표로 성과를 보고한다</a:t>
            </a:r>
            <a:r>
              <a:rPr lang="en-US" altLang="ko-KR" sz="1400" b="1" smtClean="0">
                <a:solidFill>
                  <a:srgbClr val="FFFFFF"/>
                </a:solidFill>
                <a:latin typeface="맑은 고딕" panose="020B0503020000020004" pitchFamily="50" charset="-127"/>
              </a:rPr>
              <a:t>.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7772400" cy="215444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자료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통계청 인구동향조사 </a:t>
            </a:r>
            <a:r>
              <a:rPr lang="en-US" altLang="ko-KR" sz="800" smtClean="0">
                <a:solidFill>
                  <a:srgbClr val="665440"/>
                </a:solidFill>
                <a:latin typeface="맑은 고딕" panose="020B0503020000020004" pitchFamily="50" charset="-127"/>
              </a:rPr>
              <a:t>/ KOSIS, 1970~2023</a:t>
            </a:r>
            <a:endParaRPr lang="ko-KR" altLang="en-US" sz="800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92840" y="6492240"/>
            <a:ext cx="320040" cy="230832"/>
          </a:xfrm>
          <a:prstGeom prst="rect">
            <a:avLst/>
          </a:prstGeom>
          <a:noFill/>
        </p:spPr>
        <p:txBody>
          <a:bodyPr vert="horz" lIns="63500" rIns="63500" rtlCol="0" anchor="ctr">
            <a:spAutoFit/>
          </a:bodyPr>
          <a:lstStyle/>
          <a:p>
            <a:pPr algn="r"/>
            <a:r>
              <a:rPr lang="en-US" altLang="ko-KR" sz="900" b="1" smtClean="0">
                <a:solidFill>
                  <a:srgbClr val="665440"/>
                </a:solidFill>
                <a:latin typeface="맑은 고딕" panose="020B0503020000020004" pitchFamily="50" charset="-127"/>
              </a:rPr>
              <a:t>8</a:t>
            </a:r>
            <a:endParaRPr lang="ko-KR" altLang="en-US" sz="900" b="1">
              <a:solidFill>
                <a:srgbClr val="66544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2364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Office PowerPoint</Application>
  <PresentationFormat>사용자 지정</PresentationFormat>
  <Paragraphs>157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student</dc:creator>
  <cp:lastModifiedBy>student</cp:lastModifiedBy>
  <cp:revision>1</cp:revision>
  <dcterms:created xsi:type="dcterms:W3CDTF">2026-08-21T08:03:14Z</dcterms:created>
  <dcterms:modified xsi:type="dcterms:W3CDTF">2026-08-21T08:03:14Z</dcterms:modified>
</cp:coreProperties>
</file>